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안녕하세요, 데이터베이스 기말 프로젝트 발표를 맡은 신정훈입니다. 저희 팀은 삼척의 관광 쏠림 문제를 풀기 위한 친환경 분산 관광 가이드 시스템 'ecotour'를 만들었습니다.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팀은 다섯 명입니다. 팀장 김남훈, 그리고 엄세민·정원형·김동현·저 신정훈이 함께했습니다. DB 설계·구현은 김남훈·엄세민, 화면은 정원형이 HTML·김동현이 CSS, 발표는 제가 맡았습니다. 전 과정은 Git과 TDD로 협업했습니다.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저희가 만든 건 크게 셋입니다 — Spring Boot 백엔드, JPA·H2 데이터베이스, 순수 HTML·CSS 프론트엔드. 6개 도메인, 7개 테이블, 68개 테스트를 전부 통과시켰습니다.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왜 분산 관광이냐. 삼척은 쏠비치, 장호항 같은 몇 곳에만 방문객이 몰립니다. 그래서 성수기 혼잡, 특정 지역의 환경 훼손, 숨은 명소의 저방문이라는 세 가지 문제가 생깁니다.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해결책은 관광객을 시간·공간적으로 분산시키는 겁니다. 붐비는 곳 대신 한적한 로컬 명소를 추천하고, 테마별 스탬프 코스로 동선을 나누고, 친환경 활동을 인증하면 보상을 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문제들을 여섯 개 요구사항으로 정리하고, 각각을 실제 기능과 API로 연결했습니다. 예를 들어 쏠림 문제는 대안 추천 API로, 보존 동기 부족은 친환경 인증 기능으로 풀었습니다.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구조는 controller-service-repository-domain의 계층형입니다. 요청 검증, 비즈니스 로직, 데이터 접근을 분리했습니다. Java 17, Spring Boot 3.5.6, JPA, H2를 사용했습니다.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데이터베이스는 7개 테이블로 설계했습니다. 중심은 관광지와 사용자이고, 방문기록·리뷰·댓글·코스가 이 둘과 1대다 관계로 연결됩니다.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설계는 제3정규형을 지켰습니다. 파생값은 저장하지 않고 집계하고, 모든 관계에 외래키를 걸었으며, 이메일과 코스 순서엔 유니크 제약을 줬습니다. 특히 댓글은 회원 없이 닉네임만으로 남길 수 있게 리뷰와 분리했습니다.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 기능은 분산 추천입니다. 붐비는 관광지를 조회하면 같은 카테고리에서 더 한적하거나 숨은 로컬 명소를 골라 최대 세 곳을 추천합니다. 혼잡한 쏠비치를 보면 붐비는 장호항은 빼고 초곡용굴촛대바위길 같은 한적한 곳을 추천하죠.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기능은 여섯 개 도메인으로 나뉩니다 — 관광지, 사용자, 코스, 방문·인증, 리뷰, 댓글. 각 도메인마다 등록·조회 API를 갖추고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화면은 빌드툴 없는 순수 HTML·CSS로 만들었습니다. 혼잡도와 로컬 명소를 한눈에 보여주고, 방문자 댓글은 로그인 없이 남기되 XSS는 차단했습니다.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저희는 모든 기능을 테스트부터 작성하는 TDD로 개발해 68개 테스트를 전부 통과시켰습니다. 이 시스템으로 관광 분산과 환경 보존, 지역 균형을 함께 기대할 수 있습니다. 이상으로 발표를 마치겠습니다.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4920"/>
            <a:ext cx="12191695" cy="9144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166360"/>
            <a:ext cx="12191695" cy="1691640"/>
          </a:xfrm>
          <a:prstGeom prst="rect">
            <a:avLst/>
          </a:prstGeom>
          <a:solidFill>
            <a:srgbClr val="0E3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98480" y="914400"/>
            <a:ext cx="2377440" cy="2377440"/>
          </a:xfrm>
          <a:prstGeom prst="ellipse">
            <a:avLst/>
          </a:prstGeom>
          <a:solidFill>
            <a:srgbClr val="1E66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21440" y="2103120"/>
            <a:ext cx="1371600" cy="1371600"/>
          </a:xfrm>
          <a:prstGeom prst="ellipse">
            <a:avLst/>
          </a:prstGeom>
          <a:solidFill>
            <a:srgbClr val="257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868680"/>
            <a:ext cx="8686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500" b="1">
                <a:solidFill>
                  <a:srgbClr val="A5D6A7"/>
                </a:solidFill>
                <a:latin typeface="맑은 고딕"/>
                <a:ea typeface="맑은 고딕"/>
                <a:cs typeface="맑은 고딕"/>
              </a:rPr>
              <a:t>강원대학교 삼척캠퍼스 · 데이터베이스 기말 팀 프로젝트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00200"/>
            <a:ext cx="10607040" cy="21945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삼척 친환경·체험형</a:t>
            </a:r>
          </a:p>
          <a:p>
            <a:pPr algn="l">
              <a:lnSpc>
                <a:spcPct val="100000"/>
              </a:lnSpc>
            </a:pPr>
            <a:r>
              <a:rPr sz="4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분산 관광 가이드 시스템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22191"/>
            <a:ext cx="100584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200" b="1">
                <a:solidFill>
                  <a:srgbClr val="7CB342"/>
                </a:solidFill>
                <a:latin typeface="맑은 고딕"/>
                <a:ea typeface="맑은 고딕"/>
                <a:cs typeface="맑은 고딕"/>
              </a:rPr>
              <a:t>ecotour</a:t>
            </a:r>
            <a:r>
              <a:rPr sz="1700" b="0">
                <a:solidFill>
                  <a:srgbClr val="CFE6CC"/>
                </a:solidFill>
                <a:latin typeface="맑은 고딕"/>
                <a:ea typeface="맑은 고딕"/>
                <a:cs typeface="맑은 고딕"/>
              </a:rPr>
              <a:t>  —  실시간 혼잡도 기반 분산 관광(Distributed Tourism) 백엔드 시스템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44068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300" b="1">
                <a:solidFill>
                  <a:srgbClr val="7CB342"/>
                </a:solidFill>
                <a:latin typeface="맑은 고딕"/>
                <a:ea typeface="맑은 고딕"/>
                <a:cs typeface="맑은 고딕"/>
              </a:rPr>
              <a:t>TEAM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5833872"/>
            <a:ext cx="2121408" cy="713232"/>
          </a:xfrm>
          <a:prstGeom prst="roundRect">
            <a:avLst/>
          </a:prstGeom>
          <a:solidFill>
            <a:srgbClr val="124928"/>
          </a:solidFill>
          <a:ln w="12700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907024"/>
            <a:ext cx="2029968" cy="5669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김남훈</a:t>
            </a:r>
          </a:p>
          <a:p>
            <a:pPr algn="ctr"/>
            <a:r>
              <a:rPr sz="1050" b="1">
                <a:solidFill>
                  <a:srgbClr val="7CB342"/>
                </a:solidFill>
                <a:latin typeface="맑은 고딕"/>
                <a:ea typeface="맑은 고딕"/>
                <a:cs typeface="맑은 고딕"/>
              </a:rPr>
              <a:t>팀장 · DB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99232" y="5833872"/>
            <a:ext cx="2121408" cy="713232"/>
          </a:xfrm>
          <a:prstGeom prst="roundRect">
            <a:avLst/>
          </a:prstGeom>
          <a:solidFill>
            <a:srgbClr val="124928"/>
          </a:solidFill>
          <a:ln w="12700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5907024"/>
            <a:ext cx="2029968" cy="5669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엄세민</a:t>
            </a:r>
          </a:p>
          <a:p>
            <a:pPr algn="ctr"/>
            <a:r>
              <a:rPr sz="1050" b="1">
                <a:solidFill>
                  <a:srgbClr val="7CB342"/>
                </a:solidFill>
                <a:latin typeface="맑은 고딕"/>
                <a:ea typeface="맑은 고딕"/>
                <a:cs typeface="맑은 고딕"/>
              </a:rPr>
              <a:t>DB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21224" y="5833872"/>
            <a:ext cx="2121408" cy="713232"/>
          </a:xfrm>
          <a:prstGeom prst="roundRect">
            <a:avLst/>
          </a:prstGeom>
          <a:solidFill>
            <a:srgbClr val="124928"/>
          </a:solidFill>
          <a:ln w="12700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66944" y="5907024"/>
            <a:ext cx="2029968" cy="5669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정원형</a:t>
            </a:r>
          </a:p>
          <a:p>
            <a:pPr algn="ctr"/>
            <a:r>
              <a:rPr sz="1050" b="1">
                <a:solidFill>
                  <a:srgbClr val="7CB342"/>
                </a:solidFill>
                <a:latin typeface="맑은 고딕"/>
                <a:ea typeface="맑은 고딕"/>
                <a:cs typeface="맑은 고딕"/>
              </a:rPr>
              <a:t>HTML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43216" y="5833872"/>
            <a:ext cx="2121408" cy="713232"/>
          </a:xfrm>
          <a:prstGeom prst="roundRect">
            <a:avLst/>
          </a:prstGeom>
          <a:solidFill>
            <a:srgbClr val="124928"/>
          </a:solidFill>
          <a:ln w="12700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88936" y="5907024"/>
            <a:ext cx="2029968" cy="5669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김동현</a:t>
            </a:r>
          </a:p>
          <a:p>
            <a:pPr algn="ctr"/>
            <a:r>
              <a:rPr sz="1050" b="1">
                <a:solidFill>
                  <a:srgbClr val="7CB342"/>
                </a:solidFill>
                <a:latin typeface="맑은 고딕"/>
                <a:ea typeface="맑은 고딕"/>
                <a:cs typeface="맑은 고딕"/>
              </a:rPr>
              <a:t>CSS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65208" y="5833872"/>
            <a:ext cx="2121408" cy="713232"/>
          </a:xfrm>
          <a:prstGeom prst="roundRect">
            <a:avLst/>
          </a:prstGeom>
          <a:solidFill>
            <a:srgbClr val="124928"/>
          </a:solidFill>
          <a:ln w="12700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10928" y="5907024"/>
            <a:ext cx="2029968" cy="5669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신정훈</a:t>
            </a:r>
          </a:p>
          <a:p>
            <a:pPr algn="ctr"/>
            <a:r>
              <a:rPr sz="1050" b="1">
                <a:solidFill>
                  <a:srgbClr val="7CB342"/>
                </a:solidFill>
                <a:latin typeface="맑은 고딕"/>
                <a:ea typeface="맑은 고딕"/>
                <a:cs typeface="맑은 고딕"/>
              </a:rPr>
              <a:t>발표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1078992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"/>
            <a:ext cx="1051560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1">
                <a:solidFill>
                  <a:srgbClr val="C5E1A5"/>
                </a:solidFill>
                <a:latin typeface="맑은 고딕"/>
                <a:ea typeface="맑은 고딕"/>
                <a:cs typeface="맑은 고딕"/>
              </a:rPr>
              <a:t>TEAM  ·  팀 소개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1097280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팀 소개 &amp; 역할 분담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365760"/>
            <a:ext cx="86868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1100" b="1">
                <a:solidFill>
                  <a:srgbClr val="C5E1A5"/>
                </a:solidFill>
                <a:latin typeface="맑은 고딕"/>
                <a:ea typeface="맑은 고딕"/>
                <a:cs typeface="맑은 고딕"/>
              </a:rPr>
              <a:t>02 / 13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22960" y="1600200"/>
          <a:ext cx="7498080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0240"/>
                <a:gridCol w="1188720"/>
                <a:gridCol w="438912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이름</a:t>
                      </a:r>
                    </a:p>
                  </a:txBody>
                  <a:tcPr anchor="ctr" marL="91440" marR="54864" marT="18288" marB="18288">
                    <a:solidFill>
                      <a:srgbClr val="1453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</a:t>
                      </a:r>
                    </a:p>
                  </a:txBody>
                  <a:tcPr anchor="ctr" marL="91440" marR="54864" marT="18288" marB="18288">
                    <a:solidFill>
                      <a:srgbClr val="1453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담당 업무</a:t>
                      </a:r>
                    </a:p>
                  </a:txBody>
                  <a:tcPr anchor="ctr" marL="91440" marR="54864" marT="18288" marB="18288">
                    <a:solidFill>
                      <a:srgbClr val="14532D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4532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김남훈 (팀장)</a:t>
                      </a:r>
                    </a:p>
                  </a:txBody>
                  <a:tcPr anchor="ctr" marL="91440" marR="54864" marT="18288" marB="18288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12A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DB</a:t>
                      </a:r>
                    </a:p>
                  </a:txBody>
                  <a:tcPr anchor="ctr" marL="91440" marR="54864" marT="18288" marB="18288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12A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데이터베이스 설계·구현, 프로젝트 총괄</a:t>
                      </a:r>
                    </a:p>
                  </a:txBody>
                  <a:tcPr anchor="ctr" marL="91440" marR="54864" marT="18288" marB="18288">
                    <a:solidFill>
                      <a:srgbClr val="E8F5E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4532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엄세민</a:t>
                      </a:r>
                    </a:p>
                  </a:txBody>
                  <a:tcPr anchor="ctr" marL="91440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12A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DB</a:t>
                      </a:r>
                    </a:p>
                  </a:txBody>
                  <a:tcPr anchor="ctr" marL="91440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12A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데이터베이스 설계·구현, 백엔드 연동</a:t>
                      </a:r>
                    </a:p>
                  </a:txBody>
                  <a:tcPr anchor="ctr" marL="91440" marR="54864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4532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정원형</a:t>
                      </a:r>
                    </a:p>
                  </a:txBody>
                  <a:tcPr anchor="ctr" marL="91440" marR="54864" marT="18288" marB="18288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12A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HTML</a:t>
                      </a:r>
                    </a:p>
                  </a:txBody>
                  <a:tcPr anchor="ctr" marL="91440" marR="54864" marT="18288" marB="18288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12A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프론트엔드 화면 구조(마크업)</a:t>
                      </a:r>
                    </a:p>
                  </a:txBody>
                  <a:tcPr anchor="ctr" marL="91440" marR="54864" marT="18288" marB="18288">
                    <a:solidFill>
                      <a:srgbClr val="E8F5E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4532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김동현</a:t>
                      </a:r>
                    </a:p>
                  </a:txBody>
                  <a:tcPr anchor="ctr" marL="91440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12A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CSS</a:t>
                      </a:r>
                    </a:p>
                  </a:txBody>
                  <a:tcPr anchor="ctr" marL="91440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12A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프론트엔드 스타일·디자인</a:t>
                      </a:r>
                    </a:p>
                  </a:txBody>
                  <a:tcPr anchor="ctr" marL="91440" marR="54864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4532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신정훈</a:t>
                      </a:r>
                    </a:p>
                  </a:txBody>
                  <a:tcPr anchor="ctr" marL="91440" marR="54864" marT="18288" marB="18288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12A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발표</a:t>
                      </a:r>
                    </a:p>
                  </a:txBody>
                  <a:tcPr anchor="ctr" marL="91440" marR="54864" marT="18288" marB="18288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12A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프로젝트 발표 · 시연</a:t>
                      </a:r>
                    </a:p>
                  </a:txBody>
                  <a:tcPr anchor="ctr" marL="91440" marR="54864" marT="18288" marB="18288"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641080" y="1600200"/>
            <a:ext cx="306324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41080" y="1600200"/>
            <a:ext cx="109728" cy="1691640"/>
          </a:xfrm>
          <a:prstGeom prst="round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97111" y="1746504"/>
            <a:ext cx="2651760" cy="1417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4532D"/>
                </a:solidFill>
                <a:latin typeface="맑은 고딕"/>
                <a:ea typeface="맑은 고딕"/>
                <a:cs typeface="맑은 고딕"/>
              </a:rPr>
              <a:t>협업 방식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· Git 버전관리 기반 분담·통합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· TDD(테스트 주도 개발)로 품질 확보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· README · docs 문서로 공유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41080" y="3456432"/>
            <a:ext cx="30632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641080" y="3456432"/>
            <a:ext cx="109728" cy="1600200"/>
          </a:xfrm>
          <a:prstGeom prst="round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97111" y="3602736"/>
            <a:ext cx="2651760" cy="1325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4532D"/>
                </a:solidFill>
                <a:latin typeface="맑은 고딕"/>
                <a:ea typeface="맑은 고딕"/>
                <a:cs typeface="맑은 고딕"/>
              </a:rPr>
              <a:t>분담 원칙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· DB 2명: 설계·무결성 핵심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· 프론트 2명: 구조(HTML)/스타일(CSS)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· 발표 1명: 전체 흐름 시연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55664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900" b="0">
                <a:solidFill>
                  <a:srgbClr val="556655"/>
                </a:solidFill>
                <a:latin typeface="맑은 고딕"/>
                <a:ea typeface="맑은 고딕"/>
                <a:cs typeface="맑은 고딕"/>
              </a:rPr>
              <a:t>삼척 분산 관광 가이드 시스템 · ecotour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1078992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"/>
            <a:ext cx="1051560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1">
                <a:solidFill>
                  <a:srgbClr val="C5E1A5"/>
                </a:solidFill>
                <a:latin typeface="맑은 고딕"/>
                <a:ea typeface="맑은 고딕"/>
                <a:cs typeface="맑은 고딕"/>
              </a:rPr>
              <a:t>OVERVIEW  ·  프로젝트 개요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1097280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무엇을 만들었나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365760"/>
            <a:ext cx="86868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1100" b="1">
                <a:solidFill>
                  <a:srgbClr val="C5E1A5"/>
                </a:solidFill>
                <a:latin typeface="맑은 고딕"/>
                <a:ea typeface="맑은 고딕"/>
                <a:cs typeface="맑은 고딕"/>
              </a:rPr>
              <a:t>03 / 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481328"/>
            <a:ext cx="10881360" cy="10515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1481328"/>
            <a:ext cx="146304" cy="1051560"/>
          </a:xfrm>
          <a:prstGeom prst="round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1591056"/>
            <a:ext cx="1033272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6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삼척의 관광 쏠림을 완화하고, 실시간 혼잡도를 기준으로 숨은 로컬 명소로</a:t>
            </a:r>
          </a:p>
          <a:p>
            <a:pPr algn="l">
              <a:lnSpc>
                <a:spcPct val="105000"/>
              </a:lnSpc>
            </a:pPr>
            <a:r>
              <a:rPr sz="16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관광객을 분산시키는 가이드 시스템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788920"/>
            <a:ext cx="3456432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" y="2788920"/>
            <a:ext cx="109728" cy="1920240"/>
          </a:xfrm>
          <a:prstGeom prst="round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935224"/>
            <a:ext cx="3044951" cy="1645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4532D"/>
                </a:solidFill>
                <a:latin typeface="맑은 고딕"/>
                <a:ea typeface="맑은 고딕"/>
                <a:cs typeface="맑은 고딕"/>
              </a:rPr>
              <a:t>백엔드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· Spring Boot REST API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· 6개 도메인 슬라이스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· 계층형 아키텍처 + 분산 추천 로직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53128" y="2788920"/>
            <a:ext cx="3456432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53128" y="2788920"/>
            <a:ext cx="109728" cy="1920240"/>
          </a:xfrm>
          <a:prstGeom prst="round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9160" y="2935224"/>
            <a:ext cx="3044951" cy="1645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4532D"/>
                </a:solidFill>
                <a:latin typeface="맑은 고딕"/>
                <a:ea typeface="맑은 고딕"/>
                <a:cs typeface="맑은 고딕"/>
              </a:rPr>
              <a:t>데이터베이스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· JPA + H2 인메모리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· 7개 테이블, 제3정규형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· 참조 무결성·중복 방지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83296" y="2788920"/>
            <a:ext cx="3621024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83296" y="2788920"/>
            <a:ext cx="109728" cy="1920240"/>
          </a:xfrm>
          <a:prstGeom prst="round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7" y="2935224"/>
            <a:ext cx="3209544" cy="1645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4532D"/>
                </a:solidFill>
                <a:latin typeface="맑은 고딕"/>
                <a:ea typeface="맑은 고딕"/>
                <a:cs typeface="맑은 고딕"/>
              </a:rPr>
              <a:t>프론트엔드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· 순수 HTML/CSS/JS 단일 페이지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· 분산 흐름 시각화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· 실 API 호출 + 시드 폴백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983480"/>
            <a:ext cx="2542032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074920"/>
            <a:ext cx="2542032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3000" b="1">
                <a:solidFill>
                  <a:srgbClr val="2E7D32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687568"/>
            <a:ext cx="2542032" cy="32918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200" b="1">
                <a:solidFill>
                  <a:srgbClr val="556655"/>
                </a:solidFill>
                <a:latin typeface="맑은 고딕"/>
                <a:ea typeface="맑은 고딕"/>
                <a:cs typeface="맑은 고딕"/>
              </a:rPr>
              <a:t>도메인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66160" y="4983480"/>
            <a:ext cx="2542032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66160" y="5074920"/>
            <a:ext cx="2542032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3000" b="1">
                <a:solidFill>
                  <a:srgbClr val="2E7D32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5687568"/>
            <a:ext cx="2542032" cy="32918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200" b="1">
                <a:solidFill>
                  <a:srgbClr val="556655"/>
                </a:solidFill>
                <a:latin typeface="맑은 고딕"/>
                <a:ea typeface="맑은 고딕"/>
                <a:cs typeface="맑은 고딕"/>
              </a:rPr>
              <a:t>테이블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4983480"/>
            <a:ext cx="2542032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5074920"/>
            <a:ext cx="2542032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3000" b="1">
                <a:solidFill>
                  <a:srgbClr val="2E7D32"/>
                </a:solidFill>
                <a:latin typeface="맑은 고딕"/>
                <a:ea typeface="맑은 고딕"/>
                <a:cs typeface="맑은 고딕"/>
              </a:rPr>
              <a:t>68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5687568"/>
            <a:ext cx="2542032" cy="32918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200" b="1">
                <a:solidFill>
                  <a:srgbClr val="556655"/>
                </a:solidFill>
                <a:latin typeface="맑은 고딕"/>
                <a:ea typeface="맑은 고딕"/>
                <a:cs typeface="맑은 고딕"/>
              </a:rPr>
              <a:t>테스트 GREEN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52560" y="4983480"/>
            <a:ext cx="2542032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60" y="5074920"/>
            <a:ext cx="2542032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3000" b="1">
                <a:solidFill>
                  <a:srgbClr val="2E7D32"/>
                </a:solidFill>
                <a:latin typeface="맑은 고딕"/>
                <a:ea typeface="맑은 고딕"/>
                <a:cs typeface="맑은 고딕"/>
              </a:rPr>
              <a:t>TDD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0" y="5687568"/>
            <a:ext cx="2542032" cy="32918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200" b="1">
                <a:solidFill>
                  <a:srgbClr val="556655"/>
                </a:solidFill>
                <a:latin typeface="맑은 고딕"/>
                <a:ea typeface="맑은 고딕"/>
                <a:cs typeface="맑은 고딕"/>
              </a:rPr>
              <a:t>개발 방식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55664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900" b="0">
                <a:solidFill>
                  <a:srgbClr val="556655"/>
                </a:solidFill>
                <a:latin typeface="맑은 고딕"/>
                <a:ea typeface="맑은 고딕"/>
                <a:cs typeface="맑은 고딕"/>
              </a:rPr>
              <a:t>삼척 분산 관광 가이드 시스템 · ecotour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1078992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"/>
            <a:ext cx="1051560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1">
                <a:solidFill>
                  <a:srgbClr val="C5E1A5"/>
                </a:solidFill>
                <a:latin typeface="맑은 고딕"/>
                <a:ea typeface="맑은 고딕"/>
                <a:cs typeface="맑은 고딕"/>
              </a:rPr>
              <a:t>PROBLEM  ·  기획 배경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1097280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문제 정의 — 왜 분산 관광인가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365760"/>
            <a:ext cx="86868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1100" b="1">
                <a:solidFill>
                  <a:srgbClr val="C5E1A5"/>
                </a:solidFill>
                <a:latin typeface="맑은 고딕"/>
                <a:ea typeface="맑은 고딕"/>
                <a:cs typeface="맑은 고딕"/>
              </a:rPr>
              <a:t>04 /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44752"/>
            <a:ext cx="1088136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EF6C00"/>
                </a:solidFill>
                <a:latin typeface="맑은 고딕"/>
                <a:ea typeface="맑은 고딕"/>
                <a:cs typeface="맑은 고딕"/>
              </a:rPr>
              <a:t>현상.  </a:t>
            </a:r>
            <a:r>
              <a:rPr sz="1600" b="1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쏠비치 삼척 · 장호항 등 일부 대표 관광지에 방문객이 집중된다.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286000"/>
            <a:ext cx="35204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286000"/>
            <a:ext cx="3520440" cy="566928"/>
          </a:xfrm>
          <a:prstGeom prst="round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340864"/>
            <a:ext cx="3520440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병목 · 혼잡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063240"/>
            <a:ext cx="3108960" cy="12801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성수기 주차·편의시설 포화로 만족도 저하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2286000"/>
            <a:ext cx="35204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26280" y="2286000"/>
            <a:ext cx="3520440" cy="566928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2340864"/>
            <a:ext cx="3520440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환경 부담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063240"/>
            <a:ext cx="3108960" cy="12801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특정 해안·계곡에 답압·쓰레기 등 생태 훼손 집중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2286000"/>
            <a:ext cx="35204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0" y="2286000"/>
            <a:ext cx="3520440" cy="566928"/>
          </a:xfrm>
          <a:prstGeom prst="round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2340864"/>
            <a:ext cx="3520440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지역 불균형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3063240"/>
            <a:ext cx="3108960" cy="12801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무건리 이끼폭포·초곡용굴촛대바위길 등
숨은 로컬 명소는 저평가·저방문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846320"/>
            <a:ext cx="10881360" cy="96012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956048"/>
            <a:ext cx="1042416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500" b="1">
                <a:solidFill>
                  <a:srgbClr val="14532D"/>
                </a:solidFill>
                <a:latin typeface="맑은 고딕"/>
                <a:ea typeface="맑은 고딕"/>
                <a:cs typeface="맑은 고딕"/>
              </a:rPr>
              <a:t>핵심 과제.  </a:t>
            </a:r>
            <a:r>
              <a:rPr sz="1400" b="0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붐비는 곳의 부하는 줄이고, 한적한 로컬 명소의 가치는 끌어올린다 — 환경 보존과 지역 균형을 동시에.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55664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900" b="0">
                <a:solidFill>
                  <a:srgbClr val="556655"/>
                </a:solidFill>
                <a:latin typeface="맑은 고딕"/>
                <a:ea typeface="맑은 고딕"/>
                <a:cs typeface="맑은 고딕"/>
              </a:rPr>
              <a:t>삼척 분산 관광 가이드 시스템 · ecotour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1078992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"/>
            <a:ext cx="1051560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1">
                <a:solidFill>
                  <a:srgbClr val="C5E1A5"/>
                </a:solidFill>
                <a:latin typeface="맑은 고딕"/>
                <a:ea typeface="맑은 고딕"/>
                <a:cs typeface="맑은 고딕"/>
              </a:rPr>
              <a:t>SOLUTION  ·  해결 아이디어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1097280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분산 관광(Distributed Tourism)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365760"/>
            <a:ext cx="86868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1100" b="1">
                <a:solidFill>
                  <a:srgbClr val="C5E1A5"/>
                </a:solidFill>
                <a:latin typeface="맑은 고딕"/>
                <a:ea typeface="맑은 고딕"/>
                <a:cs typeface="맑은 고딕"/>
              </a:rPr>
              <a:t>05 /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88136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700" b="1">
                <a:solidFill>
                  <a:srgbClr val="14532D"/>
                </a:solidFill>
                <a:latin typeface="맑은 고딕"/>
                <a:ea typeface="맑은 고딕"/>
                <a:cs typeface="맑은 고딕"/>
              </a:rPr>
              <a:t>관광객을 시간·공간적으로 분산시키는 소프트웨어 가이드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148840"/>
            <a:ext cx="1088136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148840"/>
            <a:ext cx="146304" cy="1207008"/>
          </a:xfrm>
          <a:prstGeom prst="round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2258568"/>
            <a:ext cx="3931920" cy="10058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650" b="1">
                <a:solidFill>
                  <a:srgbClr val="14532D"/>
                </a:solidFill>
                <a:latin typeface="맑은 고딕"/>
                <a:ea typeface="맑은 고딕"/>
                <a:cs typeface="맑은 고딕"/>
              </a:rPr>
              <a:t>① 혼잡도 기반 대안 추천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258568"/>
            <a:ext cx="6309360" cy="10058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실시간 혼잡도를 기준으로 붐비는 곳 대신
한적한 대안 · 로컬 명소를 추천한다.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483864"/>
            <a:ext cx="1088136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3483864"/>
            <a:ext cx="146304" cy="1207008"/>
          </a:xfrm>
          <a:prstGeom prst="round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3593592"/>
            <a:ext cx="3931920" cy="10058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650" b="1">
                <a:solidFill>
                  <a:srgbClr val="14532D"/>
                </a:solidFill>
                <a:latin typeface="맑은 고딕"/>
                <a:ea typeface="맑은 고딕"/>
                <a:cs typeface="맑은 고딕"/>
              </a:rPr>
              <a:t>② 친환경·체험형 스탬프 코스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593592"/>
            <a:ext cx="6309360" cy="10058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테마별 스탬프 코스로 분산 동선을 유도하고
방문 순서를 안내한다.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818888"/>
            <a:ext cx="1088136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4818888"/>
            <a:ext cx="146304" cy="1207008"/>
          </a:xfrm>
          <a:prstGeom prst="round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4928616"/>
            <a:ext cx="3931920" cy="10058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650" b="1">
                <a:solidFill>
                  <a:srgbClr val="14532D"/>
                </a:solidFill>
                <a:latin typeface="맑은 고딕"/>
                <a:ea typeface="맑은 고딕"/>
                <a:cs typeface="맑은 고딕"/>
              </a:rPr>
              <a:t>③ 친환경 활동 인증 보상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4928616"/>
            <a:ext cx="6309360" cy="10058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쓰레기 줍기 등 보존 행동을 인증하면
스탬프로 보상해 동기를 부여한다.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55664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900" b="0">
                <a:solidFill>
                  <a:srgbClr val="556655"/>
                </a:solidFill>
                <a:latin typeface="맑은 고딕"/>
                <a:ea typeface="맑은 고딕"/>
                <a:cs typeface="맑은 고딕"/>
              </a:rPr>
              <a:t>삼척 분산 관광 가이드 시스템 · ecotour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1078992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"/>
            <a:ext cx="1051560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1">
                <a:solidFill>
                  <a:srgbClr val="C5E1A5"/>
                </a:solidFill>
                <a:latin typeface="맑은 고딕"/>
                <a:ea typeface="맑은 고딕"/>
                <a:cs typeface="맑은 고딕"/>
              </a:rPr>
              <a:t>REQUIREMENTS  ·  요구사항 연계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1097280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지역 현안 → 기능 → 구현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365760"/>
            <a:ext cx="86868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1100" b="1">
                <a:solidFill>
                  <a:srgbClr val="C5E1A5"/>
                </a:solidFill>
                <a:latin typeface="맑은 고딕"/>
                <a:ea typeface="맑은 고딕"/>
                <a:cs typeface="맑은 고딕"/>
              </a:rPr>
              <a:t>06 / 13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22960" y="1554480"/>
          <a:ext cx="10881360" cy="44074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0080"/>
                <a:gridCol w="2377440"/>
                <a:gridCol w="2834640"/>
                <a:gridCol w="502920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#</a:t>
                      </a:r>
                    </a:p>
                  </a:txBody>
                  <a:tcPr anchor="ctr" marL="91440" marR="54864" marT="18288" marB="18288">
                    <a:solidFill>
                      <a:srgbClr val="1453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지역 현안</a:t>
                      </a:r>
                    </a:p>
                  </a:txBody>
                  <a:tcPr anchor="ctr" marL="91440" marR="54864" marT="18288" marB="18288">
                    <a:solidFill>
                      <a:srgbClr val="1453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 요구사항</a:t>
                      </a:r>
                    </a:p>
                  </a:txBody>
                  <a:tcPr anchor="ctr" marL="91440" marR="54864" marT="18288" marB="18288">
                    <a:solidFill>
                      <a:srgbClr val="1453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기능</a:t>
                      </a:r>
                    </a:p>
                  </a:txBody>
                  <a:tcPr anchor="ctr" marL="91440" marR="54864" marT="18288" marB="18288">
                    <a:solidFill>
                      <a:srgbClr val="14532D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4532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R1</a:t>
                      </a:r>
                    </a:p>
                  </a:txBody>
                  <a:tcPr anchor="ctr" marL="91440" marR="54864" marT="18288" marB="18288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12A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특정지 쏠림</a:t>
                      </a:r>
                    </a:p>
                  </a:txBody>
                  <a:tcPr anchor="ctr" marL="91440" marR="54864" marT="18288" marB="18288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12A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혼잡 시 대안 추천</a:t>
                      </a:r>
                    </a:p>
                  </a:txBody>
                  <a:tcPr anchor="ctr" marL="91440" marR="54864" marT="18288" marB="18288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12A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GET /attractions/{id}/alternatives</a:t>
                      </a:r>
                    </a:p>
                  </a:txBody>
                  <a:tcPr anchor="ctr" marL="91440" marR="54864" marT="18288" marB="18288">
                    <a:solidFill>
                      <a:srgbClr val="E8F5E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4532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R2</a:t>
                      </a:r>
                    </a:p>
                  </a:txBody>
                  <a:tcPr anchor="ctr" marL="91440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12A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실시간 정보 부재</a:t>
                      </a:r>
                    </a:p>
                  </a:txBody>
                  <a:tcPr anchor="ctr" marL="91440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12A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혼잡도 관리</a:t>
                      </a:r>
                    </a:p>
                  </a:txBody>
                  <a:tcPr anchor="ctr" marL="91440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12A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PATCH /attractions/{id}/congestion</a:t>
                      </a:r>
                    </a:p>
                  </a:txBody>
                  <a:tcPr anchor="ctr" marL="91440" marR="54864" marT="18288" marB="18288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4532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R3</a:t>
                      </a:r>
                    </a:p>
                  </a:txBody>
                  <a:tcPr anchor="ctr" marL="91440" marR="54864" marT="18288" marB="18288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12A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숨은 명소 저방문</a:t>
                      </a:r>
                    </a:p>
                  </a:txBody>
                  <a:tcPr anchor="ctr" marL="91440" marR="54864" marT="18288" marB="18288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12A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로컬 명소 노출</a:t>
                      </a:r>
                    </a:p>
                  </a:txBody>
                  <a:tcPr anchor="ctr" marL="91440" marR="54864" marT="18288" marB="18288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12A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localGem 플래그 + 추천 우선순위</a:t>
                      </a:r>
                    </a:p>
                  </a:txBody>
                  <a:tcPr anchor="ctr" marL="91440" marR="54864" marT="18288" marB="18288">
                    <a:solidFill>
                      <a:srgbClr val="E8F5E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4532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R4</a:t>
                      </a:r>
                    </a:p>
                  </a:txBody>
                  <a:tcPr anchor="ctr" marL="91440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12A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동선 분산 필요</a:t>
                      </a:r>
                    </a:p>
                  </a:txBody>
                  <a:tcPr anchor="ctr" marL="91440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12A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테마별 코스</a:t>
                      </a:r>
                    </a:p>
                  </a:txBody>
                  <a:tcPr anchor="ctr" marL="91440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12A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스탬프 코스 (Course / CourseDetail)</a:t>
                      </a:r>
                    </a:p>
                  </a:txBody>
                  <a:tcPr anchor="ctr" marL="91440" marR="54864" marT="18288" marB="18288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4532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R5</a:t>
                      </a:r>
                    </a:p>
                  </a:txBody>
                  <a:tcPr anchor="ctr" marL="91440" marR="54864" marT="18288" marB="18288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12A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보존 동기 부족</a:t>
                      </a:r>
                    </a:p>
                  </a:txBody>
                  <a:tcPr anchor="ctr" marL="91440" marR="54864" marT="18288" marB="18288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12A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친환경 활동 인증</a:t>
                      </a:r>
                    </a:p>
                  </a:txBody>
                  <a:tcPr anchor="ctr" marL="91440" marR="54864" marT="18288" marB="18288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12A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방문·인증 기록 (VisitLog · ECO_ACTIVITY)</a:t>
                      </a:r>
                    </a:p>
                  </a:txBody>
                  <a:tcPr anchor="ctr" marL="91440" marR="54864" marT="18288" marB="18288">
                    <a:solidFill>
                      <a:srgbClr val="E8F5E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4532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R6</a:t>
                      </a:r>
                    </a:p>
                  </a:txBody>
                  <a:tcPr anchor="ctr" marL="91440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12A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분산지 신뢰 부족</a:t>
                      </a:r>
                    </a:p>
                  </a:txBody>
                  <a:tcPr anchor="ctr" marL="91440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12A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후기 · 평점</a:t>
                      </a:r>
                    </a:p>
                  </a:txBody>
                  <a:tcPr anchor="ctr" marL="91440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12A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리뷰 (Review), 평균 평점 집계</a:t>
                      </a:r>
                    </a:p>
                  </a:txBody>
                  <a:tcPr anchor="ctr" marL="91440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6455664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900" b="0">
                <a:solidFill>
                  <a:srgbClr val="556655"/>
                </a:solidFill>
                <a:latin typeface="맑은 고딕"/>
                <a:ea typeface="맑은 고딕"/>
                <a:cs typeface="맑은 고딕"/>
              </a:rPr>
              <a:t>삼척 분산 관광 가이드 시스템 · ecotour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1078992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"/>
            <a:ext cx="1051560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1">
                <a:solidFill>
                  <a:srgbClr val="C5E1A5"/>
                </a:solidFill>
                <a:latin typeface="맑은 고딕"/>
                <a:ea typeface="맑은 고딕"/>
                <a:cs typeface="맑은 고딕"/>
              </a:rPr>
              <a:t>ARCHITECTURE  ·  시스템 구조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1097280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계층형 아키텍처 &amp; 기술 스택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365760"/>
            <a:ext cx="86868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1100" b="1">
                <a:solidFill>
                  <a:srgbClr val="C5E1A5"/>
                </a:solidFill>
                <a:latin typeface="맑은 고딕"/>
                <a:ea typeface="맑은 고딕"/>
                <a:cs typeface="맑은 고딕"/>
              </a:rPr>
              <a:t>07 / 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1600200"/>
            <a:ext cx="6035040" cy="841248"/>
          </a:xfrm>
          <a:prstGeom prst="round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600200"/>
            <a:ext cx="274320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controller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600200"/>
            <a:ext cx="329184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REST 엔드포인트 · 요청 검증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3840480" y="2441448"/>
            <a:ext cx="457200" cy="256032"/>
          </a:xfrm>
          <a:prstGeom prst="downArrow">
            <a:avLst/>
          </a:prstGeom>
          <a:solidFill>
            <a:srgbClr val="BDD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97280" y="2697480"/>
            <a:ext cx="6035040" cy="841248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2697480"/>
            <a:ext cx="274320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697480"/>
            <a:ext cx="329184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비즈니스 로직 · 트랜잭션 · 분산 추천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3840480" y="3538728"/>
            <a:ext cx="457200" cy="256032"/>
          </a:xfrm>
          <a:prstGeom prst="downArrow">
            <a:avLst/>
          </a:prstGeom>
          <a:solidFill>
            <a:srgbClr val="BDD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97280" y="3794760"/>
            <a:ext cx="6035040" cy="841248"/>
          </a:xfrm>
          <a:prstGeom prst="round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3794760"/>
            <a:ext cx="274320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repository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794760"/>
            <a:ext cx="329184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Spring Data JPA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3840480" y="4636008"/>
            <a:ext cx="457200" cy="256032"/>
          </a:xfrm>
          <a:prstGeom prst="downArrow">
            <a:avLst/>
          </a:prstGeom>
          <a:solidFill>
            <a:srgbClr val="BDD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97280" y="4892040"/>
            <a:ext cx="6035040" cy="841248"/>
          </a:xfrm>
          <a:prstGeom prst="round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4892040"/>
            <a:ext cx="274320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domain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4892040"/>
            <a:ext cx="329184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엔티티(7개) · enum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06640" y="1783080"/>
            <a:ext cx="1554480" cy="352044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06640" y="1920240"/>
            <a:ext cx="1554480" cy="32918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14532D"/>
                </a:solidFill>
                <a:latin typeface="맑은 고딕"/>
                <a:ea typeface="맑은 고딕"/>
                <a:cs typeface="맑은 고딕"/>
              </a:rPr>
              <a:t>dto</a:t>
            </a:r>
          </a:p>
          <a:p>
            <a:pPr algn="ctr">
              <a:spcAft>
                <a:spcPts val="1400"/>
              </a:spcAft>
            </a:pPr>
            <a:r>
              <a:rPr sz="1050" b="0">
                <a:solidFill>
                  <a:srgbClr val="556655"/>
                </a:solidFill>
                <a:latin typeface="맑은 고딕"/>
                <a:ea typeface="맑은 고딕"/>
                <a:cs typeface="맑은 고딕"/>
              </a:rPr>
              <a:t>요청 / 응답</a:t>
            </a:r>
          </a:p>
          <a:p>
            <a:pPr algn="ctr">
              <a:spcAft>
                <a:spcPts val="200"/>
              </a:spcAft>
            </a:pPr>
            <a:r>
              <a:rPr sz="1400" b="1">
                <a:solidFill>
                  <a:srgbClr val="14532D"/>
                </a:solidFill>
                <a:latin typeface="맑은 고딕"/>
                <a:ea typeface="맑은 고딕"/>
                <a:cs typeface="맑은 고딕"/>
              </a:rPr>
              <a:t>exception</a:t>
            </a:r>
          </a:p>
          <a:p>
            <a:pPr algn="ctr"/>
            <a:r>
              <a:rPr sz="1050" b="0">
                <a:solidFill>
                  <a:srgbClr val="556655"/>
                </a:solidFill>
                <a:latin typeface="맑은 고딕"/>
                <a:ea typeface="맑은 고딕"/>
                <a:cs typeface="맑은 고딕"/>
              </a:rPr>
              <a:t>전역 예외 처리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89720" y="1783080"/>
            <a:ext cx="2542032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89720" y="1783080"/>
            <a:ext cx="109728" cy="4160520"/>
          </a:xfrm>
          <a:prstGeom prst="round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45752" y="1929384"/>
            <a:ext cx="2130551" cy="3886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4532D"/>
                </a:solidFill>
                <a:latin typeface="맑은 고딕"/>
                <a:ea typeface="맑은 고딕"/>
                <a:cs typeface="맑은 고딕"/>
              </a:rPr>
              <a:t>기술 스택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· Java 17 (빌드 JDK 24)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· Spring Boot 3.5.6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· Spring Web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· Spring Data JPA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· Bean Validation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· H2 (in-memory)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· JUnit5 · Mockito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· AssertJ · MockMvc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· Maven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55664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900" b="0">
                <a:solidFill>
                  <a:srgbClr val="556655"/>
                </a:solidFill>
                <a:latin typeface="맑은 고딕"/>
                <a:ea typeface="맑은 고딕"/>
                <a:cs typeface="맑은 고딕"/>
              </a:rPr>
              <a:t>삼척 분산 관광 가이드 시스템 · ecotour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1078992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"/>
            <a:ext cx="1051560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1">
                <a:solidFill>
                  <a:srgbClr val="C5E1A5"/>
                </a:solidFill>
                <a:latin typeface="맑은 고딕"/>
                <a:ea typeface="맑은 고딕"/>
                <a:cs typeface="맑은 고딕"/>
              </a:rPr>
              <a:t>DATABASE ①  ·  설계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1097280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ERD — 엔티티 관계도 (7 테이블)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365760"/>
            <a:ext cx="86868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1100" b="1">
                <a:solidFill>
                  <a:srgbClr val="C5E1A5"/>
                </a:solidFill>
                <a:latin typeface="맑은 고딕"/>
                <a:ea typeface="맑은 고딕"/>
                <a:cs typeface="맑은 고딕"/>
              </a:rPr>
              <a:t>08 / 13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68780" y="2857500"/>
            <a:ext cx="731520" cy="2697480"/>
          </a:xfrm>
          <a:prstGeom prst="line">
            <a:avLst/>
          </a:prstGeom>
          <a:ln w="22225">
            <a:solidFill>
              <a:srgbClr val="9EB5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668780" y="2857500"/>
            <a:ext cx="4297680" cy="2743200"/>
          </a:xfrm>
          <a:prstGeom prst="line">
            <a:avLst/>
          </a:prstGeom>
          <a:ln w="22225">
            <a:solidFill>
              <a:srgbClr val="9EB5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2400300" y="2834640"/>
            <a:ext cx="3703320" cy="2720340"/>
          </a:xfrm>
          <a:prstGeom prst="line">
            <a:avLst/>
          </a:prstGeom>
          <a:ln w="22225">
            <a:solidFill>
              <a:srgbClr val="9EB5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5966460" y="2834640"/>
            <a:ext cx="137160" cy="2766060"/>
          </a:xfrm>
          <a:prstGeom prst="line">
            <a:avLst/>
          </a:prstGeom>
          <a:ln w="22225">
            <a:solidFill>
              <a:srgbClr val="9EB5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103620" y="2834640"/>
            <a:ext cx="3383280" cy="2766060"/>
          </a:xfrm>
          <a:prstGeom prst="line">
            <a:avLst/>
          </a:prstGeom>
          <a:ln w="22225">
            <a:solidFill>
              <a:srgbClr val="9EB5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103620" y="2834640"/>
            <a:ext cx="4297680" cy="845819"/>
          </a:xfrm>
          <a:prstGeom prst="line">
            <a:avLst/>
          </a:prstGeom>
          <a:ln w="22225">
            <a:solidFill>
              <a:srgbClr val="9EB5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10401300" y="1965960"/>
            <a:ext cx="228600" cy="1714499"/>
          </a:xfrm>
          <a:prstGeom prst="line">
            <a:avLst/>
          </a:prstGeom>
          <a:ln w="22225">
            <a:solidFill>
              <a:srgbClr val="9EB5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02920" y="2148840"/>
            <a:ext cx="233172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45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2148840"/>
            <a:ext cx="2331720" cy="384048"/>
          </a:xfrm>
          <a:prstGeom prst="round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167128"/>
            <a:ext cx="233172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APP_USER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" y="2587752"/>
            <a:ext cx="2075687" cy="9601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1">
                <a:solidFill>
                  <a:srgbClr val="14532D"/>
                </a:solidFill>
                <a:latin typeface="맑은 고딕"/>
                <a:ea typeface="맑은 고딕"/>
                <a:cs typeface="맑은 고딕"/>
              </a:rPr>
              <a:t>PK  id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email (UK)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nickname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preferred_theme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09160" y="2011680"/>
            <a:ext cx="278892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45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709160" y="2011680"/>
            <a:ext cx="2788920" cy="384048"/>
          </a:xfrm>
          <a:prstGeom prst="round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9160" y="2029968"/>
            <a:ext cx="278892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ATTRACTION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55464" y="2450592"/>
            <a:ext cx="2532887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1">
                <a:solidFill>
                  <a:srgbClr val="14532D"/>
                </a:solidFill>
                <a:latin typeface="맑은 고딕"/>
                <a:ea typeface="맑은 고딕"/>
                <a:cs typeface="맑은 고딕"/>
              </a:rPr>
              <a:t>PK  id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name · category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congestion_level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local_gem · 위경도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55480" y="1417320"/>
            <a:ext cx="2148840" cy="10972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555480" y="1417320"/>
            <a:ext cx="2148840" cy="384048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55480" y="1435608"/>
            <a:ext cx="214884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COURSE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01784" y="1856232"/>
            <a:ext cx="1892808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1">
                <a:solidFill>
                  <a:srgbClr val="14532D"/>
                </a:solidFill>
                <a:latin typeface="맑은 고딕"/>
                <a:ea typeface="맑은 고딕"/>
                <a:cs typeface="맑은 고딕"/>
              </a:rPr>
              <a:t>PK  id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name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theme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98280" y="3017520"/>
            <a:ext cx="2606040" cy="1325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098280" y="3017520"/>
            <a:ext cx="2606040" cy="384048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98280" y="3035808"/>
            <a:ext cx="260604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COURSE_DETAIL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44584" y="3456432"/>
            <a:ext cx="2350008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1">
                <a:solidFill>
                  <a:srgbClr val="14532D"/>
                </a:solidFill>
                <a:latin typeface="맑은 고딕"/>
                <a:ea typeface="맑은 고딕"/>
                <a:cs typeface="맑은 고딕"/>
              </a:rPr>
              <a:t>PK  id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1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FK  course_id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1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FK  attraction_id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visit_order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46320"/>
            <a:ext cx="2514600" cy="1417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143000" y="4846320"/>
            <a:ext cx="2514600" cy="384048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4864607"/>
            <a:ext cx="251460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VISIT_LOG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9304" y="5285231"/>
            <a:ext cx="2258568" cy="9601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1">
                <a:solidFill>
                  <a:srgbClr val="14532D"/>
                </a:solidFill>
                <a:latin typeface="맑은 고딕"/>
                <a:ea typeface="맑은 고딕"/>
                <a:cs typeface="맑은 고딕"/>
              </a:rPr>
              <a:t>PK  id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1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FK  user_id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1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FK  attraction_id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visit_type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09160" y="4937760"/>
            <a:ext cx="2514600" cy="1325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709160" y="4937760"/>
            <a:ext cx="2514600" cy="384048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09160" y="4956048"/>
            <a:ext cx="251460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REVIEW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55464" y="5376672"/>
            <a:ext cx="2258568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1">
                <a:solidFill>
                  <a:srgbClr val="14532D"/>
                </a:solidFill>
                <a:latin typeface="맑은 고딕"/>
                <a:ea typeface="맑은 고딕"/>
                <a:cs typeface="맑은 고딕"/>
              </a:rPr>
              <a:t>PK  id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1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FK  user_id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1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FK  attraction_id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rating · content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83879" y="4937760"/>
            <a:ext cx="2606040" cy="1325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183879" y="4937760"/>
            <a:ext cx="2606040" cy="384048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83879" y="4956048"/>
            <a:ext cx="260604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COMMENT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30183" y="5376672"/>
            <a:ext cx="2350008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1">
                <a:solidFill>
                  <a:srgbClr val="14532D"/>
                </a:solidFill>
                <a:latin typeface="맑은 고딕"/>
                <a:ea typeface="맑은 고딕"/>
                <a:cs typeface="맑은 고딕"/>
              </a:rPr>
              <a:t>PK  id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1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FK  attraction_id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author (닉네임)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content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709160" y="3822191"/>
            <a:ext cx="2788920" cy="4572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46320" y="3840480"/>
            <a:ext cx="2651760" cy="4206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00" b="1">
                <a:solidFill>
                  <a:srgbClr val="9EB59E"/>
                </a:solidFill>
                <a:latin typeface="맑은 고딕"/>
                <a:ea typeface="맑은 고딕"/>
                <a:cs typeface="맑은 고딕"/>
              </a:rPr>
              <a:t>──  </a:t>
            </a:r>
            <a:r>
              <a:rPr sz="1100" b="1">
                <a:solidFill>
                  <a:srgbClr val="14532D"/>
                </a:solidFill>
                <a:latin typeface="맑은 고딕"/>
                <a:ea typeface="맑은 고딕"/>
                <a:cs typeface="맑은 고딕"/>
              </a:rPr>
              <a:t>1 : N 관계  (부모 ─ 자식)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1078992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"/>
            <a:ext cx="1051560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1">
                <a:solidFill>
                  <a:srgbClr val="C5E1A5"/>
                </a:solidFill>
                <a:latin typeface="맑은 고딕"/>
                <a:ea typeface="맑은 고딕"/>
                <a:cs typeface="맑은 고딕"/>
              </a:rPr>
              <a:t>DATABASE ②  ·  명세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1097280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테이블 명세 &amp; 정규화 원칙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365760"/>
            <a:ext cx="86868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1100" b="1">
                <a:solidFill>
                  <a:srgbClr val="C5E1A5"/>
                </a:solidFill>
                <a:latin typeface="맑은 고딕"/>
                <a:ea typeface="맑은 고딕"/>
                <a:cs typeface="맑은 고딕"/>
              </a:rPr>
              <a:t>09 / 13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22960" y="1481328"/>
          <a:ext cx="6903720" cy="36210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17320"/>
                <a:gridCol w="3840480"/>
                <a:gridCol w="164592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테이블</a:t>
                      </a:r>
                    </a:p>
                  </a:txBody>
                  <a:tcPr anchor="ctr" marL="91440" marR="54864" marT="18288" marB="18288">
                    <a:solidFill>
                      <a:srgbClr val="1453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컬럼</a:t>
                      </a:r>
                    </a:p>
                  </a:txBody>
                  <a:tcPr anchor="ctr" marL="91440" marR="54864" marT="18288" marB="18288">
                    <a:solidFill>
                      <a:srgbClr val="1453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관계</a:t>
                      </a:r>
                    </a:p>
                  </a:txBody>
                  <a:tcPr anchor="ctr" marL="91440" marR="54864" marT="18288" marB="18288">
                    <a:solidFill>
                      <a:srgbClr val="14532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4532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attraction</a:t>
                      </a:r>
                    </a:p>
                  </a:txBody>
                  <a:tcPr anchor="ctr" marL="91440" marR="54864" marT="18288" marB="18288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12A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name·category·congestion·local_gem</a:t>
                      </a:r>
                    </a:p>
                  </a:txBody>
                  <a:tcPr anchor="ctr" marL="91440" marR="54864" marT="18288" marB="18288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12A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1:N → 자식</a:t>
                      </a:r>
                    </a:p>
                  </a:txBody>
                  <a:tcPr anchor="ctr" marL="91440" marR="54864" marT="18288" marB="18288">
                    <a:solidFill>
                      <a:srgbClr val="E8F5E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4532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app_user</a:t>
                      </a:r>
                    </a:p>
                  </a:txBody>
                  <a:tcPr anchor="ctr" marL="91440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12A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email(UK)·nickname·theme</a:t>
                      </a:r>
                    </a:p>
                  </a:txBody>
                  <a:tcPr anchor="ctr" marL="91440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12A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1:N → 방문·리뷰</a:t>
                      </a:r>
                    </a:p>
                  </a:txBody>
                  <a:tcPr anchor="ctr" marL="91440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4532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course</a:t>
                      </a:r>
                    </a:p>
                  </a:txBody>
                  <a:tcPr anchor="ctr" marL="91440" marR="54864" marT="18288" marB="18288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12A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name·theme</a:t>
                      </a:r>
                    </a:p>
                  </a:txBody>
                  <a:tcPr anchor="ctr" marL="91440" marR="54864" marT="18288" marB="18288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12A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1:N → detail</a:t>
                      </a:r>
                    </a:p>
                  </a:txBody>
                  <a:tcPr anchor="ctr" marL="91440" marR="54864" marT="18288" marB="18288">
                    <a:solidFill>
                      <a:srgbClr val="E8F5E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4532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course_detail</a:t>
                      </a:r>
                    </a:p>
                  </a:txBody>
                  <a:tcPr anchor="ctr" marL="91440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12A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course_id·attraction_id·order</a:t>
                      </a:r>
                    </a:p>
                  </a:txBody>
                  <a:tcPr anchor="ctr" marL="91440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12A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N:1 (UQ)</a:t>
                      </a:r>
                    </a:p>
                  </a:txBody>
                  <a:tcPr anchor="ctr" marL="91440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4532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visit_log</a:t>
                      </a:r>
                    </a:p>
                  </a:txBody>
                  <a:tcPr anchor="ctr" marL="91440" marR="54864" marT="18288" marB="18288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12A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user_id·attraction_id·type</a:t>
                      </a:r>
                    </a:p>
                  </a:txBody>
                  <a:tcPr anchor="ctr" marL="91440" marR="54864" marT="18288" marB="18288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12A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N:1</a:t>
                      </a:r>
                    </a:p>
                  </a:txBody>
                  <a:tcPr anchor="ctr" marL="91440" marR="54864" marT="18288" marB="18288">
                    <a:solidFill>
                      <a:srgbClr val="E8F5E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4532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review</a:t>
                      </a:r>
                    </a:p>
                  </a:txBody>
                  <a:tcPr anchor="ctr" marL="91440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12A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user_id·attraction_id·rating</a:t>
                      </a:r>
                    </a:p>
                  </a:txBody>
                  <a:tcPr anchor="ctr" marL="91440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12A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N:1</a:t>
                      </a:r>
                    </a:p>
                  </a:txBody>
                  <a:tcPr anchor="ctr" marL="91440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4532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comment</a:t>
                      </a:r>
                    </a:p>
                  </a:txBody>
                  <a:tcPr anchor="ctr" marL="91440" marR="54864" marT="18288" marB="18288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12A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attraction_id·author·content</a:t>
                      </a:r>
                    </a:p>
                  </a:txBody>
                  <a:tcPr anchor="ctr" marL="91440" marR="54864" marT="18288" marB="18288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12A2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N:1</a:t>
                      </a:r>
                    </a:p>
                  </a:txBody>
                  <a:tcPr anchor="ctr" marL="91440" marR="54864" marT="18288" marB="18288"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882127" y="1481328"/>
            <a:ext cx="384048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882127" y="1481328"/>
            <a:ext cx="109728" cy="2514600"/>
          </a:xfrm>
          <a:prstGeom prst="round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59" y="1627632"/>
            <a:ext cx="3429000" cy="2240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4532D"/>
                </a:solidFill>
                <a:latin typeface="맑은 고딕"/>
                <a:ea typeface="맑은 고딕"/>
                <a:cs typeface="맑은 고딕"/>
              </a:rPr>
              <a:t>정규화 · 무결성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· 제3정규형: 파생값(스탬프 수) 미저장 → visit_log 집계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· 참조 무결성: 모든 N:1에 FK + nullable=false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· 중복 방지: email UNIQUE, (course_id, visit_order) 복합 UNIQUE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· N:M 해소: Course↔Attraction → course_detail 연결 엔티티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82127" y="4114800"/>
            <a:ext cx="3840480" cy="96012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4206240"/>
            <a:ext cx="347472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14532D"/>
                </a:solidFill>
                <a:latin typeface="맑은 고딕"/>
                <a:ea typeface="맑은 고딕"/>
                <a:cs typeface="맑은 고딕"/>
              </a:rPr>
              <a:t>비회원 댓글 분리.  </a:t>
            </a:r>
            <a:r>
              <a:rPr sz="1050" b="0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comment은 회원 FK 없이 author 닉네임만 — 진입장벽 낮은 후기와 신뢰도 있는 평점(review)을 분리 수집.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212080"/>
            <a:ext cx="10899648" cy="841248"/>
          </a:xfrm>
          <a:prstGeom prst="round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5285232"/>
            <a:ext cx="10515600" cy="69494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200" b="1">
                <a:solidFill>
                  <a:srgbClr val="7CB342"/>
                </a:solidFill>
                <a:latin typeface="맑은 고딕"/>
                <a:ea typeface="맑은 고딕"/>
                <a:cs typeface="맑은 고딕"/>
              </a:rPr>
              <a:t>enum  </a:t>
            </a:r>
            <a:r>
              <a:rPr sz="11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Category(COAST·MOUNTAIN·CAVE…) · CongestionLevel(LOW·MEDIUM·HIGH) · TourTheme(ECO·EXPERIENCE…) · VisitType(STAMP·ECO_ACTIVITY)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55664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900" b="0">
                <a:solidFill>
                  <a:srgbClr val="556655"/>
                </a:solidFill>
                <a:latin typeface="맑은 고딕"/>
                <a:ea typeface="맑은 고딕"/>
                <a:cs typeface="맑은 고딕"/>
              </a:rPr>
              <a:t>삼척 분산 관광 가이드 시스템 · ecotour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1078992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"/>
            <a:ext cx="1051560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1">
                <a:solidFill>
                  <a:srgbClr val="C5E1A5"/>
                </a:solidFill>
                <a:latin typeface="맑은 고딕"/>
                <a:ea typeface="맑은 고딕"/>
                <a:cs typeface="맑은 고딕"/>
              </a:rPr>
              <a:t>CORE LOGIC  ·  핵심 기능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1097280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분산 관광 추천  recommendAlternatives()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365760"/>
            <a:ext cx="86868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1100" b="1">
                <a:solidFill>
                  <a:srgbClr val="C5E1A5"/>
                </a:solidFill>
                <a:latin typeface="맑은 고딕"/>
                <a:ea typeface="맑은 고딕"/>
                <a:cs typeface="맑은 고딕"/>
              </a:rPr>
              <a:t>10 / 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554480"/>
            <a:ext cx="33375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7552" y="1755648"/>
            <a:ext cx="566928" cy="56692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755648"/>
            <a:ext cx="566928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1664208"/>
            <a:ext cx="2377440" cy="11887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같은 카테고리의
다른 관광지 수집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187952" y="2075688"/>
            <a:ext cx="292608" cy="365760"/>
          </a:xfrm>
          <a:prstGeom prst="rightArrow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26280" y="1554480"/>
            <a:ext cx="33375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90872" y="1755648"/>
            <a:ext cx="566928" cy="56692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90872" y="1755648"/>
            <a:ext cx="566928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1664208"/>
            <a:ext cx="2377440" cy="11887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더 한적하거나(혼잡도↓)
숨은 로컬 명소만 선별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891272" y="2075688"/>
            <a:ext cx="292608" cy="365760"/>
          </a:xfrm>
          <a:prstGeom prst="rightArrow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0" y="1554480"/>
            <a:ext cx="33375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94192" y="1755648"/>
            <a:ext cx="566928" cy="56692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1755648"/>
            <a:ext cx="566928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1664208"/>
            <a:ext cx="2377440" cy="11887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로컬 우선 → 혼잡도↓
→ 이름 순 정렬, 최대 3곳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3246120"/>
            <a:ext cx="10899648" cy="265176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3383280"/>
            <a:ext cx="104241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500" b="1">
                <a:solidFill>
                  <a:srgbClr val="14532D"/>
                </a:solidFill>
                <a:latin typeface="맑은 고딕"/>
                <a:ea typeface="맑은 고딕"/>
                <a:cs typeface="맑은 고딕"/>
              </a:rPr>
              <a:t>예시 — 붐비는 명소 조회 시 한적한 대안을 추천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88720" y="3977639"/>
            <a:ext cx="3017520" cy="155448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F6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069080"/>
            <a:ext cx="30175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200" b="1">
                <a:solidFill>
                  <a:srgbClr val="EF6C00"/>
                </a:solidFill>
                <a:latin typeface="맑은 고딕"/>
                <a:ea typeface="맑은 고딕"/>
                <a:cs typeface="맑은 고딕"/>
              </a:rPr>
              <a:t>조회 (혼잡)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4526280"/>
            <a:ext cx="283464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쏠비치 삼척</a:t>
            </a:r>
          </a:p>
          <a:p>
            <a:pPr algn="ctr"/>
            <a:r>
              <a:rPr sz="1150" b="0">
                <a:solidFill>
                  <a:srgbClr val="556655"/>
                </a:solidFill>
                <a:latin typeface="맑은 고딕"/>
                <a:ea typeface="맑은 고딕"/>
                <a:cs typeface="맑은 고딕"/>
              </a:rPr>
              <a:t>COAST · 혼잡도 HIGH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4343400" y="4572000"/>
            <a:ext cx="777240" cy="457200"/>
          </a:xfrm>
          <a:prstGeom prst="rightArrow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60520" y="4160520"/>
            <a:ext cx="11887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050" b="1">
                <a:solidFill>
                  <a:srgbClr val="EF6C00"/>
                </a:solidFill>
                <a:latin typeface="맑은 고딕"/>
                <a:ea typeface="맑은 고딕"/>
                <a:cs typeface="맑은 고딕"/>
              </a:rPr>
              <a:t>장호항 제외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40680" y="3977639"/>
            <a:ext cx="2971800" cy="155448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40680" y="4069080"/>
            <a:ext cx="2971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맑은 고딕"/>
                <a:ea typeface="맑은 고딕"/>
                <a:cs typeface="맑은 고딕"/>
              </a:rPr>
              <a:t>추천 대안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32120" y="4526280"/>
            <a:ext cx="278892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초곡용굴촛대바위길</a:t>
            </a:r>
          </a:p>
          <a:p>
            <a:pPr algn="ctr"/>
            <a:r>
              <a:rPr sz="1100" b="0">
                <a:solidFill>
                  <a:srgbClr val="556655"/>
                </a:solidFill>
                <a:latin typeface="맑은 고딕"/>
                <a:ea typeface="맑은 고딕"/>
                <a:cs typeface="맑은 고딕"/>
              </a:rPr>
              <a:t>로컬 명소 · 한적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95360" y="3977639"/>
            <a:ext cx="2971800" cy="155448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95360" y="4069080"/>
            <a:ext cx="2971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맑은 고딕"/>
                <a:ea typeface="맑은 고딕"/>
                <a:cs typeface="맑은 고딕"/>
              </a:rPr>
              <a:t>추천 대안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4526280"/>
            <a:ext cx="278892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덕봉산 해안생태탐방로</a:t>
            </a:r>
          </a:p>
          <a:p>
            <a:pPr algn="ctr"/>
            <a:r>
              <a:rPr sz="1100" b="0">
                <a:solidFill>
                  <a:srgbClr val="556655"/>
                </a:solidFill>
                <a:latin typeface="맑은 고딕"/>
                <a:ea typeface="맑은 고딕"/>
                <a:cs typeface="맑은 고딕"/>
              </a:rPr>
              <a:t>로컬 명소 · 한적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55664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900" b="0">
                <a:solidFill>
                  <a:srgbClr val="556655"/>
                </a:solidFill>
                <a:latin typeface="맑은 고딕"/>
                <a:ea typeface="맑은 고딕"/>
                <a:cs typeface="맑은 고딕"/>
              </a:rPr>
              <a:t>삼척 분산 관광 가이드 시스템 · ecotour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1078992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"/>
            <a:ext cx="1051560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1">
                <a:solidFill>
                  <a:srgbClr val="C5E1A5"/>
                </a:solidFill>
                <a:latin typeface="맑은 고딕"/>
                <a:ea typeface="맑은 고딕"/>
                <a:cs typeface="맑은 고딕"/>
              </a:rPr>
              <a:t>FEATURES  ·  기능 &amp;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1097280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6개 도메인 &amp; 주요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365760"/>
            <a:ext cx="86868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1100" b="1">
                <a:solidFill>
                  <a:srgbClr val="C5E1A5"/>
                </a:solidFill>
                <a:latin typeface="맑은 고딕"/>
                <a:ea typeface="맑은 고딕"/>
                <a:cs typeface="맑은 고딕"/>
              </a:rPr>
              <a:t>11 / 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572768"/>
            <a:ext cx="35204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1572768"/>
            <a:ext cx="3520440" cy="512064"/>
          </a:xfrm>
          <a:prstGeom prst="round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1591056"/>
            <a:ext cx="3200400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관광지   </a:t>
            </a:r>
            <a:r>
              <a:rPr sz="1100" b="0">
                <a:solidFill>
                  <a:srgbClr val="CFE6CC"/>
                </a:solidFill>
                <a:latin typeface="맑은 고딕"/>
                <a:ea typeface="맑은 고딕"/>
                <a:cs typeface="맑은 고딕"/>
              </a:rPr>
              <a:t>Attraction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176272"/>
            <a:ext cx="3154680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· POST·GET /api/attractions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· GET /{id} · PATCH /{id}/congestion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· GET /{id}/alternatives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1572768"/>
            <a:ext cx="35204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26280" y="1572768"/>
            <a:ext cx="3520440" cy="512064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7448" y="1591056"/>
            <a:ext cx="3200400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사용자   </a:t>
            </a:r>
            <a:r>
              <a:rPr sz="1100" b="0">
                <a:solidFill>
                  <a:srgbClr val="CFE6CC"/>
                </a:solidFill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176272"/>
            <a:ext cx="3154680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· POST·GET /api/users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· GET /{id}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· 이메일 중복 409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572768"/>
            <a:ext cx="35204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0" y="1572768"/>
            <a:ext cx="3520440" cy="512064"/>
          </a:xfrm>
          <a:prstGeom prst="round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0768" y="1591056"/>
            <a:ext cx="3200400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코스   </a:t>
            </a:r>
            <a:r>
              <a:rPr sz="1100" b="0">
                <a:solidFill>
                  <a:srgbClr val="CFE6CC"/>
                </a:solidFill>
                <a:latin typeface="맑은 고딕"/>
                <a:ea typeface="맑은 고딕"/>
                <a:cs typeface="맑은 고딕"/>
              </a:rPr>
              <a:t>Course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176272"/>
            <a:ext cx="3154680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· POST·GET /api/courses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· ?theme= 필터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· GET /{id}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3904487"/>
            <a:ext cx="35204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2960" y="3904487"/>
            <a:ext cx="3520440" cy="512064"/>
          </a:xfrm>
          <a:prstGeom prst="round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" y="3922775"/>
            <a:ext cx="3200400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방문·인증   </a:t>
            </a:r>
            <a:r>
              <a:rPr sz="1100" b="0">
                <a:solidFill>
                  <a:srgbClr val="CFE6CC"/>
                </a:solidFill>
                <a:latin typeface="맑은 고딕"/>
                <a:ea typeface="맑은 고딕"/>
                <a:cs typeface="맑은 고딕"/>
              </a:rPr>
              <a:t>VisitLog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507992"/>
            <a:ext cx="3154680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· POST /api/visits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· GET ?userId=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· GET /stamp-count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26280" y="3904487"/>
            <a:ext cx="35204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26280" y="3904487"/>
            <a:ext cx="3520440" cy="512064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27448" y="3922775"/>
            <a:ext cx="3200400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리뷰   </a:t>
            </a:r>
            <a:r>
              <a:rPr sz="1100" b="0">
                <a:solidFill>
                  <a:srgbClr val="CFE6CC"/>
                </a:solidFill>
                <a:latin typeface="맑은 고딕"/>
                <a:ea typeface="맑은 고딕"/>
                <a:cs typeface="맑은 고딕"/>
              </a:rPr>
              <a:t>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4507992"/>
            <a:ext cx="3154680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· POST /api/reviews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· GET ?attractionId=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· GET /average (평균 평점)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3904487"/>
            <a:ext cx="35204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229600" y="3904487"/>
            <a:ext cx="3520440" cy="512064"/>
          </a:xfrm>
          <a:prstGeom prst="round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30768" y="3922775"/>
            <a:ext cx="3200400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댓글   </a:t>
            </a:r>
            <a:r>
              <a:rPr sz="1100" b="0">
                <a:solidFill>
                  <a:srgbClr val="CFE6CC"/>
                </a:solidFill>
                <a:latin typeface="맑은 고딕"/>
                <a:ea typeface="맑은 고딕"/>
                <a:cs typeface="맑은 고딕"/>
              </a:rPr>
              <a:t>Comment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4507992"/>
            <a:ext cx="3154680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· POST /api/attractions/{id}/comments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· GET …/comments (최신순)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· 비회원 · XSS 방지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55664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900" b="0">
                <a:solidFill>
                  <a:srgbClr val="556655"/>
                </a:solidFill>
                <a:latin typeface="맑은 고딕"/>
                <a:ea typeface="맑은 고딕"/>
                <a:cs typeface="맑은 고딕"/>
              </a:rPr>
              <a:t>삼척 분산 관광 가이드 시스템 · ecotour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1078992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"/>
            <a:ext cx="1051560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1">
                <a:solidFill>
                  <a:srgbClr val="C5E1A5"/>
                </a:solidFill>
                <a:latin typeface="맑은 고딕"/>
                <a:ea typeface="맑은 고딕"/>
                <a:cs typeface="맑은 고딕"/>
              </a:rPr>
              <a:t>FRONTEND  ·  화면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1097280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프론트엔드 — 분산 흐름 시각화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365760"/>
            <a:ext cx="86868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1100" b="1">
                <a:solidFill>
                  <a:srgbClr val="C5E1A5"/>
                </a:solidFill>
                <a:latin typeface="맑은 고딕"/>
                <a:ea typeface="맑은 고딕"/>
                <a:cs typeface="맑은 고딕"/>
              </a:rPr>
              <a:t>12 / 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572768"/>
            <a:ext cx="5852160" cy="4160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1572768"/>
            <a:ext cx="5852160" cy="457200"/>
          </a:xfrm>
          <a:prstGeom prst="round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5840" y="1719072"/>
            <a:ext cx="146304" cy="146304"/>
          </a:xfrm>
          <a:prstGeom prst="ellipse">
            <a:avLst/>
          </a:prstGeom>
          <a:solidFill>
            <a:srgbClr val="9CC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61872" y="1719072"/>
            <a:ext cx="146304" cy="146304"/>
          </a:xfrm>
          <a:prstGeom prst="ellipse">
            <a:avLst/>
          </a:prstGeom>
          <a:solidFill>
            <a:srgbClr val="9CC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17904" y="1719072"/>
            <a:ext cx="146304" cy="146304"/>
          </a:xfrm>
          <a:prstGeom prst="ellipse">
            <a:avLst/>
          </a:prstGeom>
          <a:solidFill>
            <a:srgbClr val="9CC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0" y="1591056"/>
            <a:ext cx="4572000" cy="4206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100" b="0">
                <a:solidFill>
                  <a:srgbClr val="CFE6CC"/>
                </a:solidFill>
                <a:latin typeface="맑은 고딕"/>
                <a:ea typeface="맑은 고딕"/>
                <a:cs typeface="맑은 고딕"/>
              </a:rPr>
              <a:t>localhost:8080  ·  ecotour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240280"/>
            <a:ext cx="530352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700" b="1">
                <a:solidFill>
                  <a:srgbClr val="14532D"/>
                </a:solidFill>
                <a:latin typeface="맑은 고딕"/>
                <a:ea typeface="맑은 고딕"/>
                <a:cs typeface="맑은 고딕"/>
              </a:rPr>
              <a:t>삼척 분산 관광 가이드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2880360"/>
            <a:ext cx="5257800" cy="713232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CFE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2880360"/>
            <a:ext cx="3657600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300" b="1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쏠비치 삼척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83480" y="3044952"/>
            <a:ext cx="1280160" cy="384048"/>
          </a:xfrm>
          <a:prstGeom prst="round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83480" y="3044952"/>
            <a:ext cx="1280160" cy="3840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혼잡 HIGH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3721608"/>
            <a:ext cx="5257800" cy="713232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CFE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25880" y="3721608"/>
            <a:ext cx="3657600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300" b="1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초곡용굴촛대바위길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83480" y="3886200"/>
            <a:ext cx="1280160" cy="384048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83480" y="3886200"/>
            <a:ext cx="1280160" cy="3840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한적 · 로컬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562856"/>
            <a:ext cx="5257800" cy="713232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CFE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25880" y="4562856"/>
            <a:ext cx="3657600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300" b="1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덕봉산 해안생태탐방로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83480" y="4727448"/>
            <a:ext cx="1280160" cy="384048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83480" y="4727448"/>
            <a:ext cx="1280160" cy="3840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한적 · 로컬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03720" y="1572768"/>
            <a:ext cx="482803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903720" y="1572768"/>
            <a:ext cx="109728" cy="1965960"/>
          </a:xfrm>
          <a:prstGeom prst="round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59752" y="1719072"/>
            <a:ext cx="4416552" cy="1691639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4532D"/>
                </a:solidFill>
                <a:latin typeface="맑은 고딕"/>
                <a:ea typeface="맑은 고딕"/>
                <a:cs typeface="맑은 고딕"/>
              </a:rPr>
              <a:t>구현 특징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· 순수 HTML / CSS / JS 단일 페이지 (빌드툴 없음)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· 실 API 호출 → 없으면 임베드 시드로 폴백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· 혼잡도·로컬 명소를 한눈에 보는 분산 흐름 UI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03720" y="3675887"/>
            <a:ext cx="4828032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903720" y="3675887"/>
            <a:ext cx="109728" cy="2057400"/>
          </a:xfrm>
          <a:prstGeom prst="round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59752" y="3822191"/>
            <a:ext cx="4416552" cy="1783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4532D"/>
                </a:solidFill>
                <a:latin typeface="맑은 고딕"/>
                <a:ea typeface="맑은 고딕"/>
                <a:cs typeface="맑은 고딕"/>
              </a:rPr>
              <a:t>방문자 댓글 드로어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· 로그인 없이 닉네임 + 내용 작성, 최신순 조회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· textContent 렌더링으로 저장형 XSS 차단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· 비동기 race 가드 · a11y / 모바일 대응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5779008"/>
            <a:ext cx="482803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100" b="1">
                <a:solidFill>
                  <a:srgbClr val="14532D"/>
                </a:solidFill>
                <a:latin typeface="맑은 고딕"/>
                <a:ea typeface="맑은 고딕"/>
                <a:cs typeface="맑은 고딕"/>
              </a:rPr>
              <a:t>담당.  </a:t>
            </a:r>
            <a:r>
              <a:rPr sz="1100" b="0">
                <a:solidFill>
                  <a:srgbClr val="556655"/>
                </a:solidFill>
                <a:latin typeface="맑은 고딕"/>
                <a:ea typeface="맑은 고딕"/>
                <a:cs typeface="맑은 고딕"/>
              </a:rPr>
              <a:t>정원형 — HTML 구조  ·  김동현 — CSS 스타일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55664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900" b="0">
                <a:solidFill>
                  <a:srgbClr val="556655"/>
                </a:solidFill>
                <a:latin typeface="맑은 고딕"/>
                <a:ea typeface="맑은 고딕"/>
                <a:cs typeface="맑은 고딕"/>
              </a:rPr>
              <a:t>삼척 분산 관광 가이드 시스템 · ecotour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1078992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"/>
            <a:ext cx="1051560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1">
                <a:solidFill>
                  <a:srgbClr val="C5E1A5"/>
                </a:solidFill>
                <a:latin typeface="맑은 고딕"/>
                <a:ea typeface="맑은 고딕"/>
                <a:cs typeface="맑은 고딕"/>
              </a:rPr>
              <a:t>TDD &amp; WRAP-UP  · 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1097280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개발 방식 &amp; 결론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365760"/>
            <a:ext cx="86868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1100" b="1">
                <a:solidFill>
                  <a:srgbClr val="C5E1A5"/>
                </a:solidFill>
                <a:latin typeface="맑은 고딕"/>
                <a:ea typeface="맑은 고딕"/>
                <a:cs typeface="맑은 고딕"/>
              </a:rPr>
              <a:t>13 / 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572768"/>
            <a:ext cx="53949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691640"/>
            <a:ext cx="49377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14532D"/>
                </a:solidFill>
                <a:latin typeface="맑은 고딕"/>
                <a:ea typeface="맑은 고딕"/>
                <a:cs typeface="맑은 고딕"/>
              </a:rPr>
              <a:t>TDD — 테스트 주도 개발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2331720"/>
            <a:ext cx="1417320" cy="640080"/>
          </a:xfrm>
          <a:prstGeom prst="round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2331720"/>
            <a:ext cx="141732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RED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697480" y="2487168"/>
            <a:ext cx="457200" cy="329184"/>
          </a:xfrm>
          <a:prstGeom prst="rightArrow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291840" y="2331720"/>
            <a:ext cx="1554480" cy="64008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2331720"/>
            <a:ext cx="155448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GREEN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154680"/>
            <a:ext cx="493776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슬라이스 테스트 @DataJpaTest · Mockito · @WebMvcTest + 통합 @SpringBootTest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1572768"/>
            <a:ext cx="5285232" cy="2286000"/>
          </a:xfrm>
          <a:prstGeom prst="round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783080"/>
            <a:ext cx="5285232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6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971800"/>
            <a:ext cx="5285232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300" b="1">
                <a:solidFill>
                  <a:srgbClr val="7CB342"/>
                </a:solidFill>
                <a:latin typeface="맑은 고딕"/>
                <a:ea typeface="맑은 고딕"/>
                <a:cs typeface="맑은 고딕"/>
              </a:rPr>
              <a:t>전체 테스트 GREEN · 모든 슬라이스 TDD 완료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114800"/>
            <a:ext cx="53949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2960" y="4114800"/>
            <a:ext cx="109728" cy="1828800"/>
          </a:xfrm>
          <a:prstGeom prst="round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4261104"/>
            <a:ext cx="4983480" cy="1554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4532D"/>
                </a:solidFill>
                <a:latin typeface="맑은 고딕"/>
                <a:ea typeface="맑은 고딕"/>
                <a:cs typeface="맑은 고딕"/>
              </a:rPr>
              <a:t>기대 효과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· 관광 분산 → 특정지 혼잡·환경 부하 완화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· 숨은 로컬 명소 활성화 → 지역 경제 균형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· 친환경 인증 → 보존 행동 동기 부여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46520" y="4114800"/>
            <a:ext cx="5285232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46520" y="4114800"/>
            <a:ext cx="109728" cy="1828800"/>
          </a:xfrm>
          <a:prstGeom prst="round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02552" y="4261104"/>
            <a:ext cx="4873752" cy="1554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4532D"/>
                </a:solidFill>
                <a:latin typeface="맑은 고딕"/>
                <a:ea typeface="맑은 고딕"/>
                <a:cs typeface="맑은 고딕"/>
              </a:rPr>
              <a:t>협업 &amp; 확장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· Git 버전관리 · README/docs 문서화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· 후속: MySQL 프로파일 · 통합 테스트 확대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212A21"/>
                </a:solidFill>
                <a:latin typeface="맑은 고딕"/>
                <a:ea typeface="맑은 고딕"/>
                <a:cs typeface="맑은 고딕"/>
              </a:rPr>
              <a:t>· 발표 · 시연 시나리오 (신정훈)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55664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900" b="0">
                <a:solidFill>
                  <a:srgbClr val="556655"/>
                </a:solidFill>
                <a:latin typeface="맑은 고딕"/>
                <a:ea typeface="맑은 고딕"/>
                <a:cs typeface="맑은 고딕"/>
              </a:rPr>
              <a:t>삼척 분산 관광 가이드 시스템 · ecotour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